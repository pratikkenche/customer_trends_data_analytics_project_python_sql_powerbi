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Gill Sans MT" panose="020B0502020104020203" pitchFamily="34" charset="0"/>
      <p:regular r:id="rId17"/>
      <p:bold r:id="rId18"/>
      <p:italic r:id="rId19"/>
      <p:boldItalic r:id="rId20"/>
    </p:embeddedFont>
    <p:embeddedFont>
      <p:font typeface="Libre Baskerville" panose="02000000000000000000" pitchFamily="2" charset="0"/>
      <p:regular r:id="rId21"/>
    </p:embeddedFont>
    <p:embeddedFont>
      <p:font typeface="Open Sans" panose="020B0606030504020204" pitchFamily="34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Kenche" userId="c4173c146ca72863" providerId="LiveId" clId="{103336C6-FBBA-4F8B-BBC2-7C19B7FBBABF}"/>
    <pc:docChg chg="undo redo custSel modSld">
      <pc:chgData name="Pratik Kenche" userId="c4173c146ca72863" providerId="LiveId" clId="{103336C6-FBBA-4F8B-BBC2-7C19B7FBBABF}" dt="2026-05-07T16:46:42.587" v="91" actId="1076"/>
      <pc:docMkLst>
        <pc:docMk/>
      </pc:docMkLst>
      <pc:sldChg chg="modSp mod">
        <pc:chgData name="Pratik Kenche" userId="c4173c146ca72863" providerId="LiveId" clId="{103336C6-FBBA-4F8B-BBC2-7C19B7FBBABF}" dt="2026-05-07T16:41:01.957" v="9" actId="1035"/>
        <pc:sldMkLst>
          <pc:docMk/>
          <pc:sldMk cId="0" sldId="257"/>
        </pc:sldMkLst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3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5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1:01.957" v="9" actId="1035"/>
          <ac:spMkLst>
            <pc:docMk/>
            <pc:sldMk cId="0" sldId="257"/>
            <ac:spMk id="19" creationId="{00000000-0000-0000-0000-000000000000}"/>
          </ac:spMkLst>
        </pc:spChg>
      </pc:sldChg>
      <pc:sldChg chg="modSp mod">
        <pc:chgData name="Pratik Kenche" userId="c4173c146ca72863" providerId="LiveId" clId="{103336C6-FBBA-4F8B-BBC2-7C19B7FBBABF}" dt="2026-05-07T16:42:16.288" v="20" actId="14100"/>
        <pc:sldMkLst>
          <pc:docMk/>
          <pc:sldMk cId="0" sldId="259"/>
        </pc:sldMkLst>
        <pc:spChg chg="mod">
          <ac:chgData name="Pratik Kenche" userId="c4173c146ca72863" providerId="LiveId" clId="{103336C6-FBBA-4F8B-BBC2-7C19B7FBBABF}" dt="2026-05-07T16:42:05.329" v="17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2:16.288" v="20" actId="14100"/>
          <ac:spMkLst>
            <pc:docMk/>
            <pc:sldMk cId="0" sldId="259"/>
            <ac:spMk id="5" creationId="{00000000-0000-0000-0000-000000000000}"/>
          </ac:spMkLst>
        </pc:spChg>
        <pc:picChg chg="mod">
          <ac:chgData name="Pratik Kenche" userId="c4173c146ca72863" providerId="LiveId" clId="{103336C6-FBBA-4F8B-BBC2-7C19B7FBBABF}" dt="2026-05-07T16:42:00.316" v="16" actId="1076"/>
          <ac:picMkLst>
            <pc:docMk/>
            <pc:sldMk cId="0" sldId="259"/>
            <ac:picMk id="3" creationId="{00000000-0000-0000-0000-000000000000}"/>
          </ac:picMkLst>
        </pc:picChg>
      </pc:sldChg>
      <pc:sldChg chg="addSp delSp modSp mod">
        <pc:chgData name="Pratik Kenche" userId="c4173c146ca72863" providerId="LiveId" clId="{103336C6-FBBA-4F8B-BBC2-7C19B7FBBABF}" dt="2026-05-07T16:44:41.216" v="53" actId="478"/>
        <pc:sldMkLst>
          <pc:docMk/>
          <pc:sldMk cId="0" sldId="260"/>
        </pc:sldMkLst>
        <pc:spChg chg="mod">
          <ac:chgData name="Pratik Kenche" userId="c4173c146ca72863" providerId="LiveId" clId="{103336C6-FBBA-4F8B-BBC2-7C19B7FBBABF}" dt="2026-05-07T16:42:59.259" v="34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2:35.576" v="21" actId="14100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Pratik Kenche" userId="c4173c146ca72863" providerId="LiveId" clId="{103336C6-FBBA-4F8B-BBC2-7C19B7FBBABF}" dt="2026-05-07T16:43:06.622" v="35" actId="478"/>
          <ac:spMkLst>
            <pc:docMk/>
            <pc:sldMk cId="0" sldId="260"/>
            <ac:spMk id="7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2:43.719" v="24" actId="1076"/>
          <ac:spMkLst>
            <pc:docMk/>
            <pc:sldMk cId="0" sldId="260"/>
            <ac:spMk id="8" creationId="{00000000-0000-0000-0000-000000000000}"/>
          </ac:spMkLst>
        </pc:spChg>
        <pc:spChg chg="add del">
          <ac:chgData name="Pratik Kenche" userId="c4173c146ca72863" providerId="LiveId" clId="{103336C6-FBBA-4F8B-BBC2-7C19B7FBBABF}" dt="2026-05-07T16:44:41.216" v="53" actId="478"/>
          <ac:spMkLst>
            <pc:docMk/>
            <pc:sldMk cId="0" sldId="260"/>
            <ac:spMk id="12" creationId="{00000000-0000-0000-0000-000000000000}"/>
          </ac:spMkLst>
        </pc:spChg>
        <pc:picChg chg="mod">
          <ac:chgData name="Pratik Kenche" userId="c4173c146ca72863" providerId="LiveId" clId="{103336C6-FBBA-4F8B-BBC2-7C19B7FBBABF}" dt="2026-05-07T16:42:58.908" v="33" actId="1076"/>
          <ac:picMkLst>
            <pc:docMk/>
            <pc:sldMk cId="0" sldId="260"/>
            <ac:picMk id="3" creationId="{00000000-0000-0000-0000-000000000000}"/>
          </ac:picMkLst>
        </pc:picChg>
      </pc:sldChg>
      <pc:sldChg chg="modSp mod">
        <pc:chgData name="Pratik Kenche" userId="c4173c146ca72863" providerId="LiveId" clId="{103336C6-FBBA-4F8B-BBC2-7C19B7FBBABF}" dt="2026-05-07T16:45:14.619" v="62" actId="1076"/>
        <pc:sldMkLst>
          <pc:docMk/>
          <pc:sldMk cId="0" sldId="261"/>
        </pc:sldMkLst>
        <pc:spChg chg="mod">
          <ac:chgData name="Pratik Kenche" userId="c4173c146ca72863" providerId="LiveId" clId="{103336C6-FBBA-4F8B-BBC2-7C19B7FBBABF}" dt="2026-05-07T16:44:42.391" v="55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5:14.619" v="62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5:04.457" v="60" actId="14100"/>
          <ac:spMkLst>
            <pc:docMk/>
            <pc:sldMk cId="0" sldId="261"/>
            <ac:spMk id="6" creationId="{00000000-0000-0000-0000-000000000000}"/>
          </ac:spMkLst>
        </pc:spChg>
      </pc:sldChg>
      <pc:sldChg chg="modSp mod">
        <pc:chgData name="Pratik Kenche" userId="c4173c146ca72863" providerId="LiveId" clId="{103336C6-FBBA-4F8B-BBC2-7C19B7FBBABF}" dt="2026-05-07T16:46:42.587" v="91" actId="1076"/>
        <pc:sldMkLst>
          <pc:docMk/>
          <pc:sldMk cId="0" sldId="262"/>
        </pc:sldMkLst>
        <pc:spChg chg="mod">
          <ac:chgData name="Pratik Kenche" userId="c4173c146ca72863" providerId="LiveId" clId="{103336C6-FBBA-4F8B-BBC2-7C19B7FBBABF}" dt="2026-05-07T16:45:31.267" v="66" actId="1076"/>
          <ac:spMkLst>
            <pc:docMk/>
            <pc:sldMk cId="0" sldId="262"/>
            <ac:spMk id="4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6:05.382" v="78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6:25.829" v="86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Pratik Kenche" userId="c4173c146ca72863" providerId="LiveId" clId="{103336C6-FBBA-4F8B-BBC2-7C19B7FBBABF}" dt="2026-05-07T16:46:42.587" v="91" actId="1076"/>
          <ac:spMkLst>
            <pc:docMk/>
            <pc:sldMk cId="0" sldId="262"/>
            <ac:spMk id="7" creationId="{00000000-0000-0000-0000-000000000000}"/>
          </ac:spMkLst>
        </pc:spChg>
        <pc:picChg chg="mod">
          <ac:chgData name="Pratik Kenche" userId="c4173c146ca72863" providerId="LiveId" clId="{103336C6-FBBA-4F8B-BBC2-7C19B7FBBABF}" dt="2026-05-07T16:46:37.176" v="90" actId="1076"/>
          <ac:picMkLst>
            <pc:docMk/>
            <pc:sldMk cId="0" sldId="262"/>
            <ac:picMk id="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933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19322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7286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837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0635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9250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7578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552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5459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8295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258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4892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324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695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716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700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420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7070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64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2336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869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776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952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transactions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product categories — spending patterns, segments, preferences, and subscriptions.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023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57584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024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257584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190245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478273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123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Categories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478273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650"/>
              </a:lnSpc>
              <a:buNone/>
            </a:pPr>
            <a:r>
              <a:rPr lang="en-US" sz="3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1231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Ratings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96119" y="3504071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637877" y="36458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7877" y="395234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Age, Gender, Location, Subscription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60601" y="3504071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3402360" y="36458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02360" y="395234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Item, Category, Amount, Season,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5083" y="3504071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6166842" y="36458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Behavior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66842" y="3952341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Discounts, Frequency, Ratings, Shipping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281635"/>
            <a:ext cx="4506069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78610" y="857674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610" y="1061718"/>
            <a:ext cx="4815780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878610" y="115451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878610" y="1425007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with </a:t>
            </a:r>
            <a:r>
              <a:rPr lang="en-US" sz="10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used </a:t>
            </a:r>
            <a:r>
              <a:rPr lang="en-US" sz="10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0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878610" y="183361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610" y="2024859"/>
            <a:ext cx="4815780" cy="14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78610" y="2130452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Impute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878610" y="2400948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Filled missing Review Ratings with category median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878610" y="2809555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610" y="2987926"/>
            <a:ext cx="4815780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78610" y="3106393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 Features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878610" y="3376888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</a:t>
            </a:r>
            <a:r>
              <a:rPr lang="en-US" sz="10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0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columns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878610" y="3785496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8610" y="3951067"/>
            <a:ext cx="4815780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878610" y="4082333"/>
            <a:ext cx="1654746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to PostgreSQL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3878610" y="4352828"/>
            <a:ext cx="4815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Connected Python to PostgreSQL for SQL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73955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&amp; Shipping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8811" y="2375148"/>
            <a:ext cx="771482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75.2k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759201" y="3385468"/>
            <a:ext cx="373608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158k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1788988"/>
            <a:ext cx="2668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Type vs. Avg. Spend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749701" y="2169914"/>
            <a:ext cx="3902943" cy="1238399"/>
          </a:xfrm>
          <a:prstGeom prst="roundRect">
            <a:avLst>
              <a:gd name="adj" fmla="val 17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6296" y="2264494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Shipping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45350" y="2264494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Purchase (USD)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96296" y="2675706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5350" y="2675706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$58.46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6296" y="3086919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45350" y="3086919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$60.48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49701" y="356778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 </a:t>
            </a:r>
            <a:r>
              <a:rPr lang="en-US" sz="1100" b="1" dirty="0">
                <a:solidFill>
                  <a:srgbClr val="B88E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2× more revenue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 female. Express shipping users spend slightly more.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8150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54324"/>
            <a:ext cx="3902943" cy="22608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20269" y="2830785"/>
            <a:ext cx="734541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606" y="2853630"/>
            <a:ext cx="5715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46474" y="2845073"/>
            <a:ext cx="755377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Non-Subscriber·73%</a:t>
            </a:r>
            <a:endParaRPr lang="en-US" sz="450" dirty="0"/>
          </a:p>
        </p:txBody>
      </p:sp>
      <p:sp>
        <p:nvSpPr>
          <p:cNvPr id="8" name="Text 4"/>
          <p:cNvSpPr/>
          <p:nvPr/>
        </p:nvSpPr>
        <p:spPr>
          <a:xfrm>
            <a:off x="3901380" y="2611338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9" name="Shape 5"/>
          <p:cNvSpPr/>
          <p:nvPr/>
        </p:nvSpPr>
        <p:spPr>
          <a:xfrm>
            <a:off x="3220269" y="2971726"/>
            <a:ext cx="60282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3606" y="2994571"/>
            <a:ext cx="57150" cy="571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46475" y="2986013"/>
            <a:ext cx="45995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Subscriber·27%</a:t>
            </a:r>
            <a:endParaRPr lang="en-US" sz="450" dirty="0"/>
          </a:p>
        </p:txBody>
      </p:sp>
      <p:sp>
        <p:nvSpPr>
          <p:cNvPr id="13" name="Text 8"/>
          <p:cNvSpPr/>
          <p:nvPr/>
        </p:nvSpPr>
        <p:spPr>
          <a:xfrm>
            <a:off x="3655368" y="2986013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"/>
              </a:lnSpc>
              <a:buNone/>
            </a:pPr>
            <a:r>
              <a:rPr lang="en-US" sz="450" dirty="0">
                <a:solidFill>
                  <a:srgbClr val="49495A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4" name="Shape 9"/>
          <p:cNvSpPr/>
          <p:nvPr/>
        </p:nvSpPr>
        <p:spPr>
          <a:xfrm>
            <a:off x="4749701" y="1806699"/>
            <a:ext cx="3902943" cy="1465213"/>
          </a:xfrm>
          <a:prstGeom prst="roundRect">
            <a:avLst>
              <a:gd name="adj" fmla="val 145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896743" y="1901279"/>
            <a:ext cx="1011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Status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196608" y="1901279"/>
            <a:ext cx="1009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Spend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94091" y="1901279"/>
            <a:ext cx="1011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4896743" y="2312491"/>
            <a:ext cx="1011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96608" y="2312491"/>
            <a:ext cx="1009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$59.49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494091" y="2312491"/>
            <a:ext cx="1011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$62,645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896743" y="2723704"/>
            <a:ext cx="101158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96608" y="2723704"/>
            <a:ext cx="100920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$59.87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494091" y="2723704"/>
            <a:ext cx="1011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$170,436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749701" y="3431381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</a:t>
            </a:r>
            <a:r>
              <a:rPr lang="en-US" sz="1100" b="1" dirty="0">
                <a:solidFill>
                  <a:srgbClr val="B88E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27%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subscribers — a major growth opportunity. Avg. spend is nearly identical across both groups.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1642"/>
            <a:ext cx="55506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Segments &amp; Loyalty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06699"/>
            <a:ext cx="3902943" cy="23083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35680" y="2190874"/>
            <a:ext cx="408305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3.12k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03960" y="2918743"/>
            <a:ext cx="375627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701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48744" y="3556124"/>
            <a:ext cx="255216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1788988"/>
            <a:ext cx="27988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9701" y="2152204"/>
            <a:ext cx="3902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Among customers with </a:t>
            </a: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&gt;5 purchases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49701" y="2538487"/>
            <a:ext cx="3902943" cy="827187"/>
          </a:xfrm>
          <a:prstGeom prst="roundRect">
            <a:avLst>
              <a:gd name="adj" fmla="val 257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6296" y="2633067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45350" y="2633067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958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6296" y="3044279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Subscribed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45350" y="3044279"/>
            <a:ext cx="16607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2,518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49701" y="352514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B88E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customers are already Loyal — yet most remain unsubscribed.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993725"/>
            <a:ext cx="208597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1286024"/>
            <a:ext cx="4890939" cy="2309738"/>
          </a:xfrm>
          <a:prstGeom prst="rect">
            <a:avLst/>
          </a:prstGeom>
          <a:noFill/>
          <a:ln/>
        </p:spPr>
      </p:pic>
      <p:sp>
        <p:nvSpPr>
          <p:cNvPr id="4" name="Text 1"/>
          <p:cNvSpPr/>
          <p:nvPr/>
        </p:nvSpPr>
        <p:spPr>
          <a:xfrm>
            <a:off x="2603981" y="1641463"/>
            <a:ext cx="391464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770547" y="1760642"/>
            <a:ext cx="441959" cy="90489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96950" y="1893674"/>
            <a:ext cx="276089" cy="90488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34100" y="1846405"/>
            <a:ext cx="373303" cy="124106"/>
          </a:xfrm>
          <a:prstGeom prst="rect">
            <a:avLst/>
          </a:prstGeom>
          <a:noFill/>
          <a:ln/>
        </p:spPr>
        <p:txBody>
          <a:bodyPr wrap="square" lIns="19050" tIns="19050" rIns="19050" bIns="19050" rtlCol="0" anchor="t"/>
          <a:lstStyle/>
          <a:p>
            <a:pPr marL="0" indent="0" algn="l">
              <a:lnSpc>
                <a:spcPts val="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26531" y="4064719"/>
            <a:ext cx="48909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550" b="1" dirty="0">
                <a:solidFill>
                  <a:srgbClr val="B88E2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</a:t>
            </a: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 in revenue at $62,143 — a key target segment for marketing campaigns.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43285"/>
            <a:ext cx="621692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Behavior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22277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88379" y="1595289"/>
            <a:ext cx="3913436" cy="2383929"/>
          </a:xfrm>
          <a:prstGeom prst="roundRect">
            <a:avLst>
              <a:gd name="adj" fmla="val 8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142" y="1600051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32668" y="168719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87005" y="168719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Avg. Rating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93142" y="1995785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2668" y="2082924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87005" y="2082924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142" y="2391519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2668" y="2478658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87005" y="2478658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142" y="2787253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2668" y="2874392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87005" y="2874392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142" y="3182987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32668" y="3270126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7005" y="3270126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142" y="3578721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2668" y="366586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87005" y="366586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46947" y="1222772"/>
            <a:ext cx="237246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746947" y="1595289"/>
            <a:ext cx="3913436" cy="2383929"/>
          </a:xfrm>
          <a:prstGeom prst="roundRect">
            <a:avLst>
              <a:gd name="adj" fmla="val 8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1710" y="1600051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91236" y="168719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45573" y="168719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Discount Rate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1710" y="1995785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91236" y="2082924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45573" y="2082924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50.00%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1710" y="2391519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91236" y="2478658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45573" y="2478658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49.66%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1710" y="2787253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91236" y="2874392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45573" y="2874392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49.07%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1710" y="3182987"/>
            <a:ext cx="3903911" cy="3957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91236" y="3270126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45573" y="3270126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48.17%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1710" y="3578721"/>
            <a:ext cx="3903911" cy="39573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1236" y="366586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45573" y="3665860"/>
            <a:ext cx="16705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47.37%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46947" y="4133701"/>
            <a:ext cx="391343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</a:t>
            </a: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used discounts yet spent above average — high-value discount users.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6624" y="47363"/>
            <a:ext cx="5601547" cy="29027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15145" y="3090267"/>
            <a:ext cx="611371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1515145" y="2990478"/>
            <a:ext cx="2320230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515145" y="3394695"/>
            <a:ext cx="302225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472482" y="3772868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Purchase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06603" y="3394695"/>
            <a:ext cx="302225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563939" y="3772868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Avg. Rating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515145" y="4066282"/>
            <a:ext cx="302225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3.9K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472482" y="4444455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06603" y="4066282"/>
            <a:ext cx="302225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5563939" y="4444455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369286"/>
            <a:ext cx="477716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3894162" y="971445"/>
            <a:ext cx="4784675" cy="782762"/>
          </a:xfrm>
          <a:prstGeom prst="roundRect">
            <a:avLst>
              <a:gd name="adj" fmla="val 8761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75" y="971445"/>
            <a:ext cx="57150" cy="782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84216" y="1118636"/>
            <a:ext cx="168852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084216" y="1401037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the 73% non-subscribers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894162" y="1878775"/>
            <a:ext cx="4784675" cy="782762"/>
          </a:xfrm>
          <a:prstGeom prst="roundRect">
            <a:avLst>
              <a:gd name="adj" fmla="val 8761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75" y="1878775"/>
            <a:ext cx="57150" cy="782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84216" y="2025966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084216" y="2308368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deepen the Loyal segment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894162" y="2786106"/>
            <a:ext cx="4784675" cy="782762"/>
          </a:xfrm>
          <a:prstGeom prst="roundRect">
            <a:avLst>
              <a:gd name="adj" fmla="val 8761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75" y="2786106"/>
            <a:ext cx="57150" cy="7827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084216" y="2933297"/>
            <a:ext cx="199444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084216" y="3215698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894162" y="3693437"/>
            <a:ext cx="4784675" cy="782762"/>
          </a:xfrm>
          <a:prstGeom prst="roundRect">
            <a:avLst>
              <a:gd name="adj" fmla="val 8761"/>
            </a:avLst>
          </a:prstGeom>
          <a:solidFill>
            <a:srgbClr val="FBFAFF"/>
          </a:solidFill>
          <a:ln w="14288">
            <a:solidFill>
              <a:srgbClr val="D0CED9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875" y="3693437"/>
            <a:ext cx="57150" cy="7827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084216" y="3840628"/>
            <a:ext cx="1675879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4084216" y="4123029"/>
            <a:ext cx="444743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Young Adults and express-shipping users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</TotalTime>
  <Words>400</Words>
  <Application>Microsoft Office PowerPoint</Application>
  <PresentationFormat>On-screen Show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Open Sans</vt:lpstr>
      <vt:lpstr>Arial</vt:lpstr>
      <vt:lpstr>Consolas</vt:lpstr>
      <vt:lpstr>Gill Sans MT</vt:lpstr>
      <vt:lpstr>Libre Baskerville</vt:lpstr>
      <vt:lpstr>Libre Baskerville Light</vt:lpstr>
      <vt:lpstr>-apple-system, BlinkMacSystemFont, Segoe UI, Roboto, Helvetica Neue, Arial, sans-serif Medium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Pratik Kenche</cp:lastModifiedBy>
  <cp:revision>2</cp:revision>
  <dcterms:created xsi:type="dcterms:W3CDTF">2026-05-07T16:35:59Z</dcterms:created>
  <dcterms:modified xsi:type="dcterms:W3CDTF">2026-05-07T16:47:40Z</dcterms:modified>
</cp:coreProperties>
</file>